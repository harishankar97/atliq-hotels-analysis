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Calibri"/>
              </a:rPr>
              <a:t>Properties by city and category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Mumbai</c:v>
                </c:pt>
                <c:pt idx="1">
                  <c:v>Bangalore</c:v>
                </c:pt>
                <c:pt idx="2">
                  <c:v>Hyderabad</c:v>
                </c:pt>
                <c:pt idx="3">
                  <c:v>Delhi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FE-46E4-8E3E-2030166F0E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Mumbai</c:v>
                </c:pt>
                <c:pt idx="1">
                  <c:v>Bangalore</c:v>
                </c:pt>
                <c:pt idx="2">
                  <c:v>Hyderabad</c:v>
                </c:pt>
                <c:pt idx="3">
                  <c:v>Delhi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FE-46E4-8E3E-2030166F0E9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Calibri"/>
              </a:rPr>
              <a:t>Average occupancy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51.8</c:v>
                </c:pt>
                <c:pt idx="1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DC-47DC-9100-2BCC902100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Calibri"/>
              </a:rPr>
              <a:t>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Delhi</c:v>
                </c:pt>
                <c:pt idx="1">
                  <c:v>Hyderabad</c:v>
                </c:pt>
                <c:pt idx="2">
                  <c:v>Mumbai</c:v>
                </c:pt>
                <c:pt idx="3">
                  <c:v>Bangalore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61.5</c:v>
                </c:pt>
                <c:pt idx="1">
                  <c:v>58.1</c:v>
                </c:pt>
                <c:pt idx="2">
                  <c:v>57.9</c:v>
                </c:pt>
                <c:pt idx="3">
                  <c:v>56.3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88-4892-9424-A1148DA988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Blu</c:v>
                </c:pt>
                <c:pt idx="1">
                  <c:v>Palace</c:v>
                </c:pt>
                <c:pt idx="2">
                  <c:v>City</c:v>
                </c:pt>
                <c:pt idx="3">
                  <c:v>Bay</c:v>
                </c:pt>
                <c:pt idx="4">
                  <c:v>Exotica</c:v>
                </c:pt>
                <c:pt idx="5">
                  <c:v>Grands</c:v>
                </c:pt>
                <c:pt idx="6">
                  <c:v>Seasons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63.1</c:v>
                </c:pt>
                <c:pt idx="1">
                  <c:v>59.8</c:v>
                </c:pt>
                <c:pt idx="2">
                  <c:v>59.6</c:v>
                </c:pt>
                <c:pt idx="3">
                  <c:v>57.9</c:v>
                </c:pt>
                <c:pt idx="4">
                  <c:v>57.8</c:v>
                </c:pt>
                <c:pt idx="5">
                  <c:v>55</c:v>
                </c:pt>
                <c:pt idx="6">
                  <c:v>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85-4A67-BC12-6A55602909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Calibri"/>
              </a:rPr>
              <a:t>Revenue by city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Mumbai</c:v>
                </c:pt>
                <c:pt idx="1">
                  <c:v>Bangalore</c:v>
                </c:pt>
                <c:pt idx="2">
                  <c:v>Hyderabad</c:v>
                </c:pt>
                <c:pt idx="3">
                  <c:v>Delhi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66.900000000000006</c:v>
                </c:pt>
                <c:pt idx="1">
                  <c:v>42</c:v>
                </c:pt>
                <c:pt idx="2">
                  <c:v>32.5</c:v>
                </c:pt>
                <c:pt idx="3">
                  <c:v>29.4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6A-4AC2-A055-C2735979A7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Calibri"/>
              </a:rPr>
              <a:t>Revenue by month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58.2</c:v>
                </c:pt>
                <c:pt idx="1">
                  <c:v>55.4</c:v>
                </c:pt>
                <c:pt idx="2">
                  <c:v>57.3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88-4992-B748-DA03917E52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Calibri"/>
              </a:rPr>
              <a:t>Revenue share by platform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1F-4444-9E5F-A2EA68BE2A75}"/>
              </c:ext>
            </c:extLst>
          </c:dPt>
          <c:dPt>
            <c:idx val="1"/>
            <c:bubble3D val="0"/>
            <c:spPr>
              <a:solidFill>
                <a:srgbClr val="13A8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1F-4444-9E5F-A2EA68BE2A75}"/>
              </c:ext>
            </c:extLst>
          </c:dPt>
          <c:dPt>
            <c:idx val="2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1F-4444-9E5F-A2EA68BE2A75}"/>
              </c:ext>
            </c:extLst>
          </c:dPt>
          <c:dPt>
            <c:idx val="3"/>
            <c:bubble3D val="0"/>
            <c:spPr>
              <a:solidFill>
                <a:srgbClr val="7FD1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1F-4444-9E5F-A2EA68BE2A75}"/>
              </c:ext>
            </c:extLst>
          </c:dPt>
          <c:dPt>
            <c:idx val="4"/>
            <c:bubble3D val="0"/>
            <c:spPr>
              <a:solidFill>
                <a:srgbClr val="8F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1F-4444-9E5F-A2EA68BE2A75}"/>
              </c:ext>
            </c:extLst>
          </c:dPt>
          <c:dPt>
            <c:idx val="5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1F-4444-9E5F-A2EA68BE2A75}"/>
              </c:ext>
            </c:extLst>
          </c:dPt>
          <c:dPt>
            <c:idx val="6"/>
            <c:bubble3D val="0"/>
            <c:spPr>
              <a:solidFill>
                <a:srgbClr val="C9D3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71F-4444-9E5F-A2EA68BE2A7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1F-4444-9E5F-A2EA68BE2A7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1F-4444-9E5F-A2EA68BE2A7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1F-4444-9E5F-A2EA68BE2A7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1F-4444-9E5F-A2EA68BE2A7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1F-4444-9E5F-A2EA68BE2A7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71F-4444-9E5F-A2EA68BE2A75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71F-4444-9E5F-A2EA68BE2A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Others</c:v>
                </c:pt>
                <c:pt idx="1">
                  <c:v>MakeYourTrip</c:v>
                </c:pt>
                <c:pt idx="2">
                  <c:v>LogTrip</c:v>
                </c:pt>
                <c:pt idx="3">
                  <c:v>Direct online</c:v>
                </c:pt>
                <c:pt idx="4">
                  <c:v>Tripster</c:v>
                </c:pt>
                <c:pt idx="5">
                  <c:v>Journey</c:v>
                </c:pt>
                <c:pt idx="6">
                  <c:v>Direct offline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69.900000000000006</c:v>
                </c:pt>
                <c:pt idx="1">
                  <c:v>34.1</c:v>
                </c:pt>
                <c:pt idx="2">
                  <c:v>18.7</c:v>
                </c:pt>
                <c:pt idx="3">
                  <c:v>16.899999999999999</c:v>
                </c:pt>
                <c:pt idx="4">
                  <c:v>12.3</c:v>
                </c:pt>
                <c:pt idx="5">
                  <c:v>10.3</c:v>
                </c:pt>
                <c:pt idx="6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71F-4444-9E5F-A2EA68BE2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Calibri"/>
              </a:rPr>
              <a:t>Average rating by brand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Blu</c:v>
                </c:pt>
                <c:pt idx="1">
                  <c:v>Palace</c:v>
                </c:pt>
                <c:pt idx="2">
                  <c:v>Bay</c:v>
                </c:pt>
                <c:pt idx="3">
                  <c:v>City</c:v>
                </c:pt>
                <c:pt idx="4">
                  <c:v>Exotica</c:v>
                </c:pt>
                <c:pt idx="5">
                  <c:v>Grands</c:v>
                </c:pt>
                <c:pt idx="6">
                  <c:v>Seasons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3.96</c:v>
                </c:pt>
                <c:pt idx="1">
                  <c:v>3.75</c:v>
                </c:pt>
                <c:pt idx="2">
                  <c:v>3.71</c:v>
                </c:pt>
                <c:pt idx="3">
                  <c:v>3.69</c:v>
                </c:pt>
                <c:pt idx="4">
                  <c:v>3.62</c:v>
                </c:pt>
                <c:pt idx="5">
                  <c:v>3.1</c:v>
                </c:pt>
                <c:pt idx="6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D8-4C18-8F09-C678AE9D09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68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analyses three months of AtliQ Hotels booking data to understand occupancy, revenue and guest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822960" cy="640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Revenue &amp; Guest Experience Analysis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July 2022  |  25 properties  |  4 cities  |  Data Analytics Project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19728C-1CD7-F631-CEB9-3D627C6C1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0491"/>
            <a:ext cx="474785" cy="4646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80A87F-A2FF-EA33-4853-6A2659544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224" y="109624"/>
            <a:ext cx="466344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analysis: find where AtliQ is winning and where revenue is leaking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properties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417320"/>
            <a:ext cx="64008" cy="8229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9748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417320"/>
            <a:ext cx="64008" cy="8229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134,573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bookings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128016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417320"/>
            <a:ext cx="64008" cy="8229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1371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₹170.9 Cr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realized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97480"/>
            <a:ext cx="64008" cy="8229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occupancy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14600" y="2560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2697480"/>
            <a:ext cx="64008" cy="8229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69748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26974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guest rating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2560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697480"/>
            <a:ext cx="64008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256032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2697480"/>
            <a:ext cx="64008" cy="8229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1228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 pts</a:t>
            </a:r>
            <a:endParaRPr lang="en-US" sz="28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 occupancy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demand patterns and turn them into revenue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AtliQ Hotels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properties under 7 brands across India’s four biggest metros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81088549"/>
              </p:ext>
            </p:extLst>
          </p:nvPr>
        </p:nvGraphicFramePr>
        <p:xfrm>
          <a:off x="457200" y="1188720"/>
          <a:ext cx="4937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Luxury and 9 Business hotels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is the largest market with 8 properties; Delhi has 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Grands, Exotica, City, Blu, Bay, Palace, Seasons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holds the biggest footprint, so it drives the biggest share of revenue.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Categories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room classes, from entry-level to the Presidential suite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realized /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 Cr)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occupancy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₹11,318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₹23,439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earns the most in total; Presidential earns ~3x a Standard room per booking.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Preparation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datasets analysed in Python (pandas), cleaned before any insight was drawn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bookings (134,590 rows), daily room capacity (9,200 rows), hotels, rooms and calendar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12 bookings with negative guest counts and 5 revenue outliers (above mean + 3 SD)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6 daily records where bookings exceeded capacity; 2 missing capacities filled with the median (25)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blank ratings as is, since 58% of bookings are unrated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all tables, then added an occupancy % column = bookings ÷ capacity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3716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508760"/>
            <a:ext cx="64008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bookings removed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65176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788920"/>
            <a:ext cx="64008" cy="8229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errors removed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0.02% of bookings were removed, so the data is reliable.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Weekends Are Full, Weekdays Are Not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occupancy by day type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88720"/>
          <a:ext cx="4572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394960" y="14630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occupancy is 74.0% vs 51.8% on weekdays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in Luxury (74.0% vs 52.0%) and Business (73.9% vs 51.4%)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hold the biggest unused capacity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corporate packages and midweek offers to lift weekday demand.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Occupancy by City and Brand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leads on occupancy; Atliq Seasons lags far behind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88720"/>
          <a:ext cx="3931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3277627041"/>
              </p:ext>
            </p:extLst>
          </p:nvPr>
        </p:nvGraphicFramePr>
        <p:xfrm>
          <a:off x="4572000" y="118872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gaps are small (5 pts); brand gaps are large. Seasons is 19 pts behind Blu.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Revenue Concentrates in Mumbai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realized, May–Jul 2022 (₹ Crore)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88720"/>
          <a:ext cx="3931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572000" y="118872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= 39% of revenue. Delhi has top occupancy but the lowest revenue (fewest rooms).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4: Booking Channels &amp; Cancellations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bookings come from, and how much revenue is lost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45720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2801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1417320"/>
            <a:ext cx="64008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7784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cancelled (+5.0% no-show)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94960" y="26060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4960" y="2743200"/>
            <a:ext cx="64008" cy="8229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 Cr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lost: ₹200.7 Cr booked vs ₹170.9 Cr realized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channels bring only ~15% of revenue; cancellations are ~25% on every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5: Guest Ratings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(1–5) by brand; overall 3.62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8872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852160" y="14630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rates highest (3.78); Bangalore lowest (3.41)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Seasons (2.30) and Grands (3.10) are well below average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is also last on occupancy and revenue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ratings and low occupancy go together: fix service quality at Seasons and Grands first.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Data Update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records appended to the existing dataset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64008" cy="8229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6,497 → 6,504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appending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08760"/>
            <a:ext cx="64008" cy="8229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occupancy, 1 Aug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508760"/>
            <a:ext cx="64008" cy="8229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62.5–100%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range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file has 7 rows: Standard rooms (RT1) on 1 August across 7 properties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Exotica (Mumbai) was fully booked at 100%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 only; a full month is needed before drawing conclusions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ready: new monthly files can be appended and analysed the same way.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actions, each tied to a finding from the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10515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Fill weekday rooms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weekday occupancy 51.8% vs weekend 74.0%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corporate tie-ups, midweek packages, and stay-more discounts on Sun–Thu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25880"/>
            <a:ext cx="64008" cy="10515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Turn around weak brands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Seasons has 44.5% occupancy and a 2.30 rating; Grands rates 3.10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service and facility audit, staff training, guest-feedback follow-up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64008" cy="10515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Reduce cancellations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24.8% cancelled plus 5.0% no-show; ₹30 Cr gap between booked and realized revenue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deposits or tighter free-cancellation windows on peak 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88920"/>
            <a:ext cx="64008" cy="10515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Grow direct bookings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direct online and offline bring only ~15% of revenue; 41% sits in "others"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loyalty offers and a best-rate guarantee on the hotel website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lever: weekdays. Biggest risk: cancellations. Quickest win: fix Seasons and Grands.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Roadmap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90-day plan, in priority order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234440"/>
          <a:ext cx="8229600" cy="27432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to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offers and corporate partnerships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1–30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occupancy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Seasons and Grands (service, rooms, reviews)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1–45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and occupancy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cancellation and deposit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30–60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Direct-booking loyalty and best-rate 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30–90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revenue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dashboard refresh using the same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KPIs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two high-priority items; they need no new systems.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&amp;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targets for the next quarter, to be agreed with management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occupancy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51.8%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542032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1371600"/>
            <a:ext cx="64008" cy="14630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24912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24.8%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24912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626864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371600"/>
            <a:ext cx="64008" cy="14630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9744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Seasons rating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2.30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09744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09744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711696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11696" y="1371600"/>
            <a:ext cx="64008" cy="146304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94576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revenue share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94576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~15%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94576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94576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targets with city managers and revenue team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weekday offers in Delhi and Mumbai, then scale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full month of August data and compare against these baselines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proposals for discussion, not forecasts from the data.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22960" cy="640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1250</Words>
  <Application>Microsoft Office PowerPoint</Application>
  <PresentationFormat>On-screen Show (16:9)</PresentationFormat>
  <Paragraphs>225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Hotels Analysis</dc:title>
  <dc:subject>PptxGenJS Presentation</dc:subject>
  <dc:creator>PptxGenJS</dc:creator>
  <cp:lastModifiedBy>Hari Shankar</cp:lastModifiedBy>
  <cp:revision>4</cp:revision>
  <dcterms:created xsi:type="dcterms:W3CDTF">2026-10-02T08:28:30Z</dcterms:created>
  <dcterms:modified xsi:type="dcterms:W3CDTF">2026-10-05T07:55:00Z</dcterms:modified>
</cp:coreProperties>
</file>